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7"/>
  </p:notesMasterIdLst>
  <p:sldIdLst>
    <p:sldId id="256" r:id="rId6"/>
  </p:sldIdLst>
  <p:sldSz cx="28778200" cy="43180000"/>
  <p:notesSz cx="6858000" cy="9144000"/>
  <p:embeddedFontLst>
    <p:embeddedFont>
      <p:font typeface="Open Sans Bold" charset="1" panose="00000000000000000000"/>
      <p:regular r:id="rId10"/>
    </p:embeddedFont>
    <p:embeddedFont>
      <p:font typeface="Open Sans" charset="1" panose="0000000000000000000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0.png" Type="http://schemas.openxmlformats.org/officeDocument/2006/relationships/image"/><Relationship Id="rId13" Target="../media/image11.svg" Type="http://schemas.openxmlformats.org/officeDocument/2006/relationships/image"/><Relationship Id="rId14" Target="../media/image12.png" Type="http://schemas.openxmlformats.org/officeDocument/2006/relationships/image"/><Relationship Id="rId15" Target="../media/image13.svg" Type="http://schemas.openxmlformats.org/officeDocument/2006/relationships/image"/><Relationship Id="rId16" Target="../media/image14.png" Type="http://schemas.openxmlformats.org/officeDocument/2006/relationships/image"/><Relationship Id="rId17" Target="../media/image15.svg" Type="http://schemas.openxmlformats.org/officeDocument/2006/relationships/image"/><Relationship Id="rId18" Target="../media/image16.png" Type="http://schemas.openxmlformats.org/officeDocument/2006/relationships/image"/><Relationship Id="rId19" Target="../media/image17.svg" Type="http://schemas.openxmlformats.org/officeDocument/2006/relationships/image"/><Relationship Id="rId2" Target="../notesSlides/notesSlide1.xml" Type="http://schemas.openxmlformats.org/officeDocument/2006/relationships/notesSlide"/><Relationship Id="rId20" Target="../media/image18.png" Type="http://schemas.openxmlformats.org/officeDocument/2006/relationships/image"/><Relationship Id="rId21" Target="../media/image19.svg" Type="http://schemas.openxmlformats.org/officeDocument/2006/relationships/image"/><Relationship Id="rId22" Target="../media/image20.png" Type="http://schemas.openxmlformats.org/officeDocument/2006/relationships/image"/><Relationship Id="rId23" Target="../media/image21.png" Type="http://schemas.openxmlformats.org/officeDocument/2006/relationships/image"/><Relationship Id="rId24" Target="../media/image22.png" Type="http://schemas.openxmlformats.org/officeDocument/2006/relationships/image"/><Relationship Id="rId25" Target="../media/image23.svg" Type="http://schemas.openxmlformats.org/officeDocument/2006/relationships/image"/><Relationship Id="rId26" Target="../media/image24.png" Type="http://schemas.openxmlformats.org/officeDocument/2006/relationships/image"/><Relationship Id="rId27" Target="../media/image25.svg" Type="http://schemas.openxmlformats.org/officeDocument/2006/relationships/image"/><Relationship Id="rId28" Target="../media/image26.png" Type="http://schemas.openxmlformats.org/officeDocument/2006/relationships/image"/><Relationship Id="rId29" Target="../media/image27.png" Type="http://schemas.openxmlformats.org/officeDocument/2006/relationships/image"/><Relationship Id="rId3" Target="../media/image1.png" Type="http://schemas.openxmlformats.org/officeDocument/2006/relationships/image"/><Relationship Id="rId30" Target="../media/image28.sv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6.png" Type="http://schemas.openxmlformats.org/officeDocument/2006/relationships/image"/><Relationship Id="rId9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44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34725" y="36273038"/>
            <a:ext cx="29324846" cy="6968080"/>
          </a:xfrm>
          <a:custGeom>
            <a:avLst/>
            <a:gdLst/>
            <a:ahLst/>
            <a:cxnLst/>
            <a:rect r="r" b="b" t="t" l="l"/>
            <a:pathLst>
              <a:path h="6968080" w="29324846">
                <a:moveTo>
                  <a:pt x="0" y="0"/>
                </a:moveTo>
                <a:lnTo>
                  <a:pt x="29324847" y="0"/>
                </a:lnTo>
                <a:lnTo>
                  <a:pt x="29324847" y="6968081"/>
                </a:lnTo>
                <a:lnTo>
                  <a:pt x="0" y="696808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163233" y="34829696"/>
            <a:ext cx="22769151" cy="14311008"/>
            <a:chOff x="0" y="0"/>
            <a:chExt cx="30358867" cy="1908134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358842" cy="19081369"/>
            </a:xfrm>
            <a:custGeom>
              <a:avLst/>
              <a:gdLst/>
              <a:ahLst/>
              <a:cxnLst/>
              <a:rect r="r" b="b" t="t" l="l"/>
              <a:pathLst>
                <a:path h="19081369" w="30358842">
                  <a:moveTo>
                    <a:pt x="0" y="0"/>
                  </a:moveTo>
                  <a:lnTo>
                    <a:pt x="30358842" y="0"/>
                  </a:lnTo>
                  <a:lnTo>
                    <a:pt x="30358842" y="19081369"/>
                  </a:lnTo>
                  <a:lnTo>
                    <a:pt x="0" y="19081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4538" r="0" b="-24538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-234725" y="28800362"/>
            <a:ext cx="29304072" cy="9759744"/>
          </a:xfrm>
          <a:custGeom>
            <a:avLst/>
            <a:gdLst/>
            <a:ahLst/>
            <a:cxnLst/>
            <a:rect r="r" b="b" t="t" l="l"/>
            <a:pathLst>
              <a:path h="9759744" w="29304072">
                <a:moveTo>
                  <a:pt x="0" y="0"/>
                </a:moveTo>
                <a:lnTo>
                  <a:pt x="29304073" y="0"/>
                </a:lnTo>
                <a:lnTo>
                  <a:pt x="29304073" y="9759743"/>
                </a:lnTo>
                <a:lnTo>
                  <a:pt x="0" y="975974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234715" y="21010293"/>
            <a:ext cx="29324846" cy="9460535"/>
          </a:xfrm>
          <a:custGeom>
            <a:avLst/>
            <a:gdLst/>
            <a:ahLst/>
            <a:cxnLst/>
            <a:rect r="r" b="b" t="t" l="l"/>
            <a:pathLst>
              <a:path h="9460535" w="29324846">
                <a:moveTo>
                  <a:pt x="0" y="0"/>
                </a:moveTo>
                <a:lnTo>
                  <a:pt x="29324846" y="0"/>
                </a:lnTo>
                <a:lnTo>
                  <a:pt x="29324846" y="9460534"/>
                </a:lnTo>
                <a:lnTo>
                  <a:pt x="0" y="94605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34725" y="15561374"/>
            <a:ext cx="29304072" cy="8372961"/>
          </a:xfrm>
          <a:custGeom>
            <a:avLst/>
            <a:gdLst/>
            <a:ahLst/>
            <a:cxnLst/>
            <a:rect r="r" b="b" t="t" l="l"/>
            <a:pathLst>
              <a:path h="8372961" w="29304072">
                <a:moveTo>
                  <a:pt x="0" y="0"/>
                </a:moveTo>
                <a:lnTo>
                  <a:pt x="29304073" y="0"/>
                </a:lnTo>
                <a:lnTo>
                  <a:pt x="29304073" y="8372960"/>
                </a:lnTo>
                <a:lnTo>
                  <a:pt x="0" y="83729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234715" y="6816147"/>
            <a:ext cx="29304072" cy="9226115"/>
          </a:xfrm>
          <a:custGeom>
            <a:avLst/>
            <a:gdLst/>
            <a:ahLst/>
            <a:cxnLst/>
            <a:rect r="r" b="b" t="t" l="l"/>
            <a:pathLst>
              <a:path h="9226115" w="29304072">
                <a:moveTo>
                  <a:pt x="0" y="0"/>
                </a:moveTo>
                <a:lnTo>
                  <a:pt x="29304072" y="0"/>
                </a:lnTo>
                <a:lnTo>
                  <a:pt x="29304072" y="9226115"/>
                </a:lnTo>
                <a:lnTo>
                  <a:pt x="0" y="922611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234715" y="-573881"/>
            <a:ext cx="29324837" cy="9050017"/>
          </a:xfrm>
          <a:custGeom>
            <a:avLst/>
            <a:gdLst/>
            <a:ahLst/>
            <a:cxnLst/>
            <a:rect r="r" b="b" t="t" l="l"/>
            <a:pathLst>
              <a:path h="9050017" w="29324837">
                <a:moveTo>
                  <a:pt x="0" y="0"/>
                </a:moveTo>
                <a:lnTo>
                  <a:pt x="29324837" y="0"/>
                </a:lnTo>
                <a:lnTo>
                  <a:pt x="29324837" y="9050017"/>
                </a:lnTo>
                <a:lnTo>
                  <a:pt x="0" y="905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799393" y="9368085"/>
            <a:ext cx="13135499" cy="20666859"/>
          </a:xfrm>
          <a:custGeom>
            <a:avLst/>
            <a:gdLst/>
            <a:ahLst/>
            <a:cxnLst/>
            <a:rect r="r" b="b" t="t" l="l"/>
            <a:pathLst>
              <a:path h="20666859" w="13135499">
                <a:moveTo>
                  <a:pt x="0" y="0"/>
                </a:moveTo>
                <a:lnTo>
                  <a:pt x="13135498" y="0"/>
                </a:lnTo>
                <a:lnTo>
                  <a:pt x="13135498" y="20666859"/>
                </a:lnTo>
                <a:lnTo>
                  <a:pt x="0" y="2066685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25884" y="30011218"/>
            <a:ext cx="14051137" cy="9336281"/>
          </a:xfrm>
          <a:custGeom>
            <a:avLst/>
            <a:gdLst/>
            <a:ahLst/>
            <a:cxnLst/>
            <a:rect r="r" b="b" t="t" l="l"/>
            <a:pathLst>
              <a:path h="9336281" w="14051137">
                <a:moveTo>
                  <a:pt x="0" y="0"/>
                </a:moveTo>
                <a:lnTo>
                  <a:pt x="14051137" y="0"/>
                </a:lnTo>
                <a:lnTo>
                  <a:pt x="14051137" y="9336281"/>
                </a:lnTo>
                <a:lnTo>
                  <a:pt x="0" y="933628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5313523" y="30138548"/>
            <a:ext cx="12706788" cy="8215579"/>
          </a:xfrm>
          <a:custGeom>
            <a:avLst/>
            <a:gdLst/>
            <a:ahLst/>
            <a:cxnLst/>
            <a:rect r="r" b="b" t="t" l="l"/>
            <a:pathLst>
              <a:path h="8215579" w="12706788">
                <a:moveTo>
                  <a:pt x="0" y="0"/>
                </a:moveTo>
                <a:lnTo>
                  <a:pt x="12706789" y="0"/>
                </a:lnTo>
                <a:lnTo>
                  <a:pt x="12706789" y="8215579"/>
                </a:lnTo>
                <a:lnTo>
                  <a:pt x="0" y="821557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-916543" y="1525353"/>
            <a:ext cx="8571186" cy="2454221"/>
            <a:chOff x="0" y="0"/>
            <a:chExt cx="11428247" cy="32722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428222" cy="3272282"/>
            </a:xfrm>
            <a:custGeom>
              <a:avLst/>
              <a:gdLst/>
              <a:ahLst/>
              <a:cxnLst/>
              <a:rect r="r" b="b" t="t" l="l"/>
              <a:pathLst>
                <a:path h="3272282" w="11428222">
                  <a:moveTo>
                    <a:pt x="0" y="0"/>
                  </a:moveTo>
                  <a:lnTo>
                    <a:pt x="11428222" y="0"/>
                  </a:lnTo>
                  <a:lnTo>
                    <a:pt x="11428222" y="3272282"/>
                  </a:lnTo>
                  <a:lnTo>
                    <a:pt x="0" y="3272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163233" y="-4997463"/>
            <a:ext cx="22769151" cy="14311008"/>
            <a:chOff x="0" y="0"/>
            <a:chExt cx="30358867" cy="190813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0358842" cy="19081369"/>
            </a:xfrm>
            <a:custGeom>
              <a:avLst/>
              <a:gdLst/>
              <a:ahLst/>
              <a:cxnLst/>
              <a:rect r="r" b="b" t="t" l="l"/>
              <a:pathLst>
                <a:path h="19081369" w="30358842">
                  <a:moveTo>
                    <a:pt x="0" y="0"/>
                  </a:moveTo>
                  <a:lnTo>
                    <a:pt x="30358842" y="0"/>
                  </a:lnTo>
                  <a:lnTo>
                    <a:pt x="30358842" y="19081369"/>
                  </a:lnTo>
                  <a:lnTo>
                    <a:pt x="0" y="19081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4538" r="0" b="-24538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21014303" y="1712014"/>
            <a:ext cx="7228389" cy="2335063"/>
            <a:chOff x="0" y="0"/>
            <a:chExt cx="9637852" cy="311341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637903" cy="3113405"/>
            </a:xfrm>
            <a:custGeom>
              <a:avLst/>
              <a:gdLst/>
              <a:ahLst/>
              <a:cxnLst/>
              <a:rect r="r" b="b" t="t" l="l"/>
              <a:pathLst>
                <a:path h="3113405" w="9637903">
                  <a:moveTo>
                    <a:pt x="0" y="0"/>
                  </a:moveTo>
                  <a:lnTo>
                    <a:pt x="9637903" y="0"/>
                  </a:lnTo>
                  <a:lnTo>
                    <a:pt x="9637903" y="3113405"/>
                  </a:lnTo>
                  <a:lnTo>
                    <a:pt x="0" y="31134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-165" r="0" b="-166"/>
              </a:stretch>
            </a:blip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5432060" y="12090349"/>
            <a:ext cx="4989814" cy="66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51"/>
              </a:lnSpc>
            </a:pPr>
            <a:r>
              <a:rPr lang="en-US" b="true" sz="5077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INTRODUÇÃO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0291" y="9450114"/>
            <a:ext cx="14456807" cy="10409558"/>
          </a:xfrm>
          <a:custGeom>
            <a:avLst/>
            <a:gdLst/>
            <a:ahLst/>
            <a:cxnLst/>
            <a:rect r="r" b="b" t="t" l="l"/>
            <a:pathLst>
              <a:path h="10409558" w="14456807">
                <a:moveTo>
                  <a:pt x="0" y="0"/>
                </a:moveTo>
                <a:lnTo>
                  <a:pt x="14456807" y="0"/>
                </a:lnTo>
                <a:lnTo>
                  <a:pt x="14456807" y="10409559"/>
                </a:lnTo>
                <a:lnTo>
                  <a:pt x="0" y="10409559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420291" y="19899725"/>
            <a:ext cx="14456807" cy="10166756"/>
          </a:xfrm>
          <a:custGeom>
            <a:avLst/>
            <a:gdLst/>
            <a:ahLst/>
            <a:cxnLst/>
            <a:rect r="r" b="b" t="t" l="l"/>
            <a:pathLst>
              <a:path h="10166756" w="14456807">
                <a:moveTo>
                  <a:pt x="0" y="0"/>
                </a:moveTo>
                <a:lnTo>
                  <a:pt x="14456807" y="0"/>
                </a:lnTo>
                <a:lnTo>
                  <a:pt x="14456807" y="10166757"/>
                </a:lnTo>
                <a:lnTo>
                  <a:pt x="0" y="10166757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22527254" y="36801438"/>
            <a:ext cx="5609092" cy="5642286"/>
            <a:chOff x="0" y="0"/>
            <a:chExt cx="7478789" cy="75230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78776" cy="7523099"/>
            </a:xfrm>
            <a:custGeom>
              <a:avLst/>
              <a:gdLst/>
              <a:ahLst/>
              <a:cxnLst/>
              <a:rect r="r" b="b" t="t" l="l"/>
              <a:pathLst>
                <a:path h="7523099" w="7478776">
                  <a:moveTo>
                    <a:pt x="0" y="0"/>
                  </a:moveTo>
                  <a:lnTo>
                    <a:pt x="7478776" y="0"/>
                  </a:lnTo>
                  <a:lnTo>
                    <a:pt x="7478776" y="7523099"/>
                  </a:lnTo>
                  <a:lnTo>
                    <a:pt x="0" y="75230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>
                <a:fillRect l="-49" t="0" r="-49" b="0"/>
              </a:stretch>
            </a:blipFill>
          </p:spPr>
        </p:sp>
      </p:grpSp>
      <p:sp>
        <p:nvSpPr>
          <p:cNvPr name="Freeform 24" id="24"/>
          <p:cNvSpPr/>
          <p:nvPr/>
        </p:nvSpPr>
        <p:spPr>
          <a:xfrm flipH="false" flipV="false" rot="0">
            <a:off x="16905803" y="17847154"/>
            <a:ext cx="9328186" cy="3324407"/>
          </a:xfrm>
          <a:custGeom>
            <a:avLst/>
            <a:gdLst/>
            <a:ahLst/>
            <a:cxnLst/>
            <a:rect r="r" b="b" t="t" l="l"/>
            <a:pathLst>
              <a:path h="3324407" w="9328186">
                <a:moveTo>
                  <a:pt x="0" y="0"/>
                </a:moveTo>
                <a:lnTo>
                  <a:pt x="9328186" y="0"/>
                </a:lnTo>
                <a:lnTo>
                  <a:pt x="9328186" y="3324406"/>
                </a:lnTo>
                <a:lnTo>
                  <a:pt x="0" y="3324406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6924887" y="30913997"/>
            <a:ext cx="9484062" cy="628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REFERÊNCIAS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459728" y="4439588"/>
            <a:ext cx="5865093" cy="1744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858"/>
              </a:lnSpc>
            </a:pPr>
            <a:r>
              <a:rPr lang="en-US" b="true" sz="11433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HERMES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33447" y="6107935"/>
            <a:ext cx="27917655" cy="19575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Álvaro Carvalho</a:t>
            </a: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, Dandara Monike, Leonardo Lamari, Luccas Covre</a:t>
            </a:r>
          </a:p>
          <a:p>
            <a:pPr algn="ctr">
              <a:lnSpc>
                <a:spcPts val="800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Orientadores: </a:t>
            </a:r>
            <a:r>
              <a:rPr lang="en-US" sz="476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Eduardo Savino, Ronaldo Araujo, Francisco Escobar, Adriano Valente, José Buesso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561444" y="30818842"/>
            <a:ext cx="10186387" cy="628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TECNOLOGIAS UTILIZADAS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608352" y="9848574"/>
            <a:ext cx="10186387" cy="628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RESULTADOS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44302" y="9848574"/>
            <a:ext cx="10186387" cy="628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758250" y="20293317"/>
            <a:ext cx="10186387" cy="628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b="true" sz="476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PROPOSTA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5966977" y="31681750"/>
            <a:ext cx="11399996" cy="5734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CORTEX. Food Service no Brasil. Disponível em: https://bit.ly/cortex-hermes. Acesso em: 3 mai. 2026.                                </a:t>
            </a:r>
          </a:p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NIELSEN, J. 10 Usability Heuristics. NN/g, 2020. Disponível em: https://bit.ly/nng-hermes. Acesso em: 3 mai. 2026.</a:t>
            </a:r>
          </a:p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MDN. JavaScript, HTML e CSS. Mozilla. Disponível em: https://developer.mozilla.org. Acesso em: 3 mai. 2026.</a:t>
            </a:r>
          </a:p>
          <a:p>
            <a:pPr algn="just">
              <a:lnSpc>
                <a:spcPts val="5762"/>
              </a:lnSpc>
            </a:pPr>
          </a:p>
        </p:txBody>
      </p:sp>
      <p:sp>
        <p:nvSpPr>
          <p:cNvPr name="TextBox 33" id="33"/>
          <p:cNvSpPr txBox="true"/>
          <p:nvPr/>
        </p:nvSpPr>
        <p:spPr>
          <a:xfrm rot="0">
            <a:off x="1595876" y="31700118"/>
            <a:ext cx="12562799" cy="6029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As tecnologias e ferramentas que utilizamos no processo de  desenvolvimento do projeto foram :  </a:t>
            </a: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algn="just">
              <a:lnSpc>
                <a:spcPts val="2351"/>
              </a:lnSpc>
            </a:pPr>
          </a:p>
          <a:p>
            <a:pPr algn="just" marL="784097" indent="-261366" lvl="2">
              <a:lnSpc>
                <a:spcPts val="5762"/>
              </a:lnSpc>
              <a:buFont typeface="Arial"/>
              <a:buChar char="⚬"/>
            </a:pPr>
            <a:r>
              <a:rPr lang="en-US" b="true" sz="34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Frontend -</a:t>
            </a:r>
          </a:p>
          <a:p>
            <a:pPr algn="just" marL="784097" indent="-261366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HTML, CSS, React</a:t>
            </a:r>
          </a:p>
          <a:p>
            <a:pPr algn="just" marL="784097" indent="-261366" lvl="2">
              <a:lnSpc>
                <a:spcPts val="5762"/>
              </a:lnSpc>
              <a:buFont typeface="Arial"/>
              <a:buChar char="⚬"/>
            </a:pPr>
            <a:r>
              <a:rPr lang="en-US" b="true" sz="34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Backend -</a:t>
            </a:r>
          </a:p>
          <a:p>
            <a:pPr algn="just" marL="784125" indent="-261375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JavaScript, Node.js, SqLite </a:t>
            </a:r>
          </a:p>
          <a:p>
            <a:pPr algn="just" marL="784097" indent="-261366" lvl="2">
              <a:lnSpc>
                <a:spcPts val="5762"/>
              </a:lnSpc>
              <a:buFont typeface="Arial"/>
              <a:buChar char="⚬"/>
            </a:pPr>
            <a:r>
              <a:rPr lang="en-US" b="true" sz="34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Ferramentas -</a:t>
            </a:r>
          </a:p>
          <a:p>
            <a:pPr algn="just" marL="784097" indent="-261366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Figma, VSCode, Krita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70044" y="10839383"/>
            <a:ext cx="12562799" cy="8263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Nosso cliente iniciou seu negócio enfrentando dificuldades de     acessar e captar fornecedores confiáveis para o seu e-commerce. Para superar essa limitação, busca expandir sua atuação para um modelo Marketplace B2B. No entanto, atualmente ainda enfrenta desafios como: </a:t>
            </a:r>
          </a:p>
          <a:p>
            <a:pPr algn="just">
              <a:lnSpc>
                <a:spcPts val="5762"/>
              </a:lnSpc>
            </a:pPr>
          </a:p>
          <a:p>
            <a:pPr algn="just" marL="1481073" indent="-493691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Estruturar conexões B2B de forma eficiente.</a:t>
            </a:r>
          </a:p>
          <a:p>
            <a:pPr algn="just" marL="1481073" indent="-493691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Dificuldade em dar visibilidade a produtos de desova (FIFO).</a:t>
            </a:r>
          </a:p>
          <a:p>
            <a:pPr algn="just" marL="1481073" indent="-493691" lvl="2">
              <a:lnSpc>
                <a:spcPts val="5762"/>
              </a:lnSpc>
              <a:buFont typeface="Arial"/>
              <a:buChar char="⚬"/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Risco de fraude no cadastro de usuários.</a:t>
            </a:r>
          </a:p>
          <a:p>
            <a:pPr algn="just">
              <a:lnSpc>
                <a:spcPts val="5762"/>
              </a:lnSpc>
            </a:pPr>
          </a:p>
          <a:p>
            <a:pPr algn="just">
              <a:lnSpc>
                <a:spcPts val="2351"/>
              </a:lnSpc>
            </a:pPr>
          </a:p>
        </p:txBody>
      </p:sp>
      <p:sp>
        <p:nvSpPr>
          <p:cNvPr name="TextBox 35" id="35"/>
          <p:cNvSpPr txBox="true"/>
          <p:nvPr/>
        </p:nvSpPr>
        <p:spPr>
          <a:xfrm rot="0">
            <a:off x="1570063" y="21236502"/>
            <a:ext cx="12562799" cy="8558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Desenvolver uma plataforma Marketplace B2B Web de Alimentos, que funcione como um Hub de Anúncios conectando fornecedores e compradores de forma segura e estruturada, reduzindo o tempo de negociação inicial e facilitando a tomada de decisão no mercado B2B</a:t>
            </a:r>
          </a:p>
          <a:p>
            <a:pPr algn="just">
              <a:lnSpc>
                <a:spcPts val="5762"/>
              </a:lnSpc>
            </a:pPr>
          </a:p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Para isso, deve contemplar o cadastro e autenticação de usuários com diferentes perfis, o gerenciamento de anúncios por fornecedores, além de mecanismos de busca, filtragem e avaliação, com suporte à moderação administrativa da plataforma.</a:t>
            </a:r>
          </a:p>
          <a:p>
            <a:pPr algn="just">
              <a:lnSpc>
                <a:spcPts val="2351"/>
              </a:lnSpc>
            </a:pPr>
          </a:p>
          <a:p>
            <a:pPr algn="just">
              <a:lnSpc>
                <a:spcPts val="2351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136931" y="39443711"/>
            <a:ext cx="28242597" cy="206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b="true" sz="4955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IV SEMANA FECAP DE TECNOLOGIA - 2026</a:t>
            </a:r>
          </a:p>
          <a:p>
            <a:pPr algn="ctr">
              <a:lnSpc>
                <a:spcPts val="8324"/>
              </a:lnSpc>
            </a:pPr>
            <a:r>
              <a:rPr lang="en-US" sz="495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5617819" y="10696508"/>
            <a:ext cx="11904154" cy="64584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Hermes é um marketplace B2B de alimentos que conecta fornecedores e compradores por meio de um hub de anúncios, facilitando o encontro entre oferta e demanda.</a:t>
            </a:r>
          </a:p>
          <a:p>
            <a:pPr algn="just">
              <a:lnSpc>
                <a:spcPts val="5762"/>
              </a:lnSpc>
            </a:pPr>
            <a:r>
              <a:rPr lang="en-US" b="true" sz="34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Identidade e design —</a:t>
            </a: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Um dos principais diferenciais da solução está na experiência de uso, que busca aproximar o padrão de usabilidade do B2C ao B2B, tornando a plataforma mais acessível e intuitiva para fornecedores e compradores, facilitando a captação.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714840" y="22114535"/>
            <a:ext cx="11652018" cy="7906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762"/>
              </a:lnSpc>
            </a:pPr>
            <a:r>
              <a:rPr lang="en-US" sz="342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Funcionalidades — </a:t>
            </a:r>
            <a:r>
              <a:rPr lang="en-US" sz="342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plataforma contempla gestão de anúncios, cadastro, autenticação, busca e avaliação de usuários. Conta com áreas estratégicas para destacar anúncios, como uma seção de desova (FIFO), uma seção de dicas para compradores e painéis com indicadores para fornecedores e administradores.</a:t>
            </a:r>
          </a:p>
          <a:p>
            <a:pPr algn="just">
              <a:lnSpc>
                <a:spcPts val="5762"/>
              </a:lnSpc>
            </a:pPr>
          </a:p>
          <a:p>
            <a:pPr algn="just">
              <a:lnSpc>
                <a:spcPts val="5762"/>
              </a:lnSpc>
            </a:pPr>
            <a:r>
              <a:rPr lang="en-US" sz="342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342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Hermes atua como um facilitador de negócios, redefinindo a forma como empresas se conectam no mercado B2B de alimentos.</a:t>
            </a:r>
          </a:p>
          <a:p>
            <a:pPr algn="just">
              <a:lnSpc>
                <a:spcPts val="5762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DAHIoRK8wg8</dc:identifier>
  <dcterms:modified xsi:type="dcterms:W3CDTF">2011-08-01T06:04:30Z</dcterms:modified>
  <cp:revision>1</cp:revision>
  <dc:title>Banner_FECAP_ADS2_HAZEL</dc:title>
</cp:coreProperties>
</file>